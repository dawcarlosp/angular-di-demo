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Presentar el tema y los conceptos que se verán a lo largo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servicio es simplemente una clase. La magia la añade @Injectable y Angular 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@Injectable habilita el sistema DI. providedIn:'root' garantiza singleton global.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Angular intercepta el constructor, mira los tipos declarados y los inyecta. Nosotros no hacemos 'new'.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clave: el servicio es el intermediario. Los componentes no se conocen entre sí, solo conocen al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Repasar los 6 conceptos y abrir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Invitar a preguntas y recordar los conceptos clave del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FF6584">
              <a:alpha val="15000"/>
            </a:srgbClr>
          </a:solidFill>
          <a:ln w="12700">
            <a:solidFill>
              <a:srgbClr val="FF6584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6400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Angular entrega lo que cada componente necesita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41605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41605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72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BehaviorSubject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45720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572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83680" y="822960"/>
            <a:ext cx="2194560" cy="3291840"/>
          </a:xfrm>
          <a:prstGeom prst="roundRect">
            <a:avLst>
              <a:gd name="adj" fmla="val 7500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960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@Injectable({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75120" y="12984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providedIn: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75120" y="16367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'root'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675120" y="19751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75120" y="23134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75120" y="2651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MiServicio {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75120" y="29900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75120" y="33284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datos = [];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75120" y="3666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C63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Servicio?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es una clase TypeScript normal con una responsabilidad específica: centralizar lógica de negocio, acceder a APIs o compartir datos entre componentes. No tiene template ni vista. Solo código reutilizable.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87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963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puede ser usado por cualquier componente de la app.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383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918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 única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43000" y="35570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hace una cosa: gestionar datos, llamar a una API, etc.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014216"/>
            <a:ext cx="4754880" cy="685800"/>
          </a:xfrm>
          <a:prstGeom prst="roundRect">
            <a:avLst>
              <a:gd name="adj" fmla="val 16000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17880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087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3525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componentes comparten la misma instancia y sus datos.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0" y="1188720"/>
            <a:ext cx="3383280" cy="3566160"/>
          </a:xfrm>
          <a:prstGeom prst="roundRect">
            <a:avLst>
              <a:gd name="adj" fmla="val 4054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mi-servicio.ts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23560" y="160020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Injectable 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23560" y="180136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'@angular/core';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23560" y="200253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23560" y="220370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@Injectable({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23560" y="240487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providedIn: 'root'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23560" y="260604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23560" y="280720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3560" y="300837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ProductosService {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23560" y="320954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23560" y="341071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productos = [];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23560" y="361188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38130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getProductos() {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623560" y="4014216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this.productos;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23560" y="42153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23560" y="4416552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C63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@Injectable y providedIn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77640" cy="3520440"/>
          </a:xfrm>
          <a:prstGeom prst="roundRect">
            <a:avLst>
              <a:gd name="adj" fmla="val 4675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Decorador que marca la clase como servicio inyectable. Sin él, Angular no puede inyectarla aunque la importes.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Obligatorio para cualquier servicio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977640" cy="3520440"/>
          </a:xfrm>
          <a:prstGeom prst="roundRect">
            <a:avLst>
              <a:gd name="adj" fmla="val 4675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FF6584">
              <a:alpha val="80000"/>
            </a:srgbClr>
          </a:solidFill>
          <a:ln w="12700">
            <a:solidFill>
              <a:srgbClr val="FF6584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371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providedIn: "root"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 a Angular dónde registrar el servicio. Con 'root', se crea UNA SOLA instancia para toda la aplicación (patrón Singleton).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3832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misma instancia en todos los componentes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8229600" cy="347472"/>
          </a:xfrm>
          <a:prstGeom prst="roundRect">
            <a:avLst>
              <a:gd name="adj" fmla="val 26316"/>
            </a:avLst>
          </a:prstGeom>
          <a:solidFill>
            <a:srgbClr val="2A2840"/>
          </a:solidFill>
          <a:ln w="12700">
            <a:solidFill>
              <a:srgbClr val="6C63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6908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Singleton: Angular crea el servicio UNA vez y reutiliza esa instancia en cualquier componente que la pida.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C63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mediante constructor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1E1D2E"/>
          </a:solidFill>
          <a:ln w="12700">
            <a:solidFill>
              <a:srgbClr val="FF658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984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el servicio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constructor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18872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1E1D2E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2984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DI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66420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la instancia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su registro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0" y="1188720"/>
            <a:ext cx="2103120" cy="1188720"/>
          </a:xfrm>
          <a:prstGeom prst="roundRect">
            <a:avLst>
              <a:gd name="adj" fmla="val 11538"/>
            </a:avLst>
          </a:prstGeom>
          <a:solidFill>
            <a:srgbClr val="1E1D2E"/>
          </a:solidFill>
          <a:ln w="12700">
            <a:solidFill>
              <a:srgbClr val="FF658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0" y="12984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66420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 listo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783080"/>
            <a:ext cx="100584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1627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77840" y="1783080"/>
            <a:ext cx="1005840" cy="0"/>
          </a:xfrm>
          <a:prstGeom prst="line">
            <a:avLst/>
          </a:prstGeom>
          <a:noFill/>
          <a:ln w="25400">
            <a:solidFill>
              <a:srgbClr val="6C6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6276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2377440"/>
          </a:xfrm>
          <a:prstGeom prst="roundRect">
            <a:avLst>
              <a:gd name="adj" fmla="val 5769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mi-componente.ts — Inyección por constructor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0175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Component } from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2186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'@angular/core';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34198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ProductosService } from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" y="36210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'./productos.service';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38221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023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@Component({ ... })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4224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ListaComponent 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32186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Angular entrega el servicio solo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4198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svc: ProductosService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36210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38221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4023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ngOnInit() {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4224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this.items = this.svc.getProductos();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4425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46268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8288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6C63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Compartición de datos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componentes mediante un servicio compartido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194560" cy="1417320"/>
          </a:xfrm>
          <a:prstGeom prst="roundRect">
            <a:avLst>
              <a:gd name="adj" fmla="val 9677"/>
            </a:avLst>
          </a:prstGeom>
          <a:solidFill>
            <a:srgbClr val="1E1D2E"/>
          </a:solidFill>
          <a:ln w="12700">
            <a:solidFill>
              <a:srgbClr val="FF6584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4871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+ ]  [ −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377440" cy="1874520"/>
          </a:xfrm>
          <a:prstGeom prst="roundRect">
            <a:avLst>
              <a:gd name="adj" fmla="val 7317"/>
            </a:avLst>
          </a:prstGeom>
          <a:solidFill>
            <a:srgbClr val="1E1D2E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BehaviorSubject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2011680"/>
            <a:ext cx="1280160" cy="594360"/>
          </a:xfrm>
          <a:prstGeom prst="ellipse">
            <a:avLst/>
          </a:prstGeom>
          <a:solidFill>
            <a:srgbClr val="2A28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203911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7889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  providedIn:'root'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2194560" cy="1417320"/>
          </a:xfrm>
          <a:prstGeom prst="roundRect">
            <a:avLst>
              <a:gd name="adj" fmla="val 9677"/>
            </a:avLst>
          </a:prstGeom>
          <a:solidFill>
            <a:srgbClr val="1E1D2E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508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874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observa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4871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60320" y="2148840"/>
            <a:ext cx="82296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1965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3FF"/>
                </a:solidFill>
              </a:rPr>
              <a:t>⟷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760720" y="2148840"/>
            <a:ext cx="82296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9659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3FF"/>
                </a:solidFill>
              </a:rPr>
              <a:t>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8229600" cy="1572768"/>
          </a:xfrm>
          <a:prstGeom prst="roundRect">
            <a:avLst>
              <a:gd name="adj" fmla="val 697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4015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contador.service.ts — BehaviorSubject como canal reactivo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36758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contadorSubject = new BehaviorSubject&lt;number&gt;(0);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0080" y="39044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contador$ = this.contadorSubject.asObservable();   // Observable público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1330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" y="43616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incrementar() { this.contadorSubject.next(this.contadorSubject.getValue() + 1); 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590288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componentes suscritos reciben el nuevo valor automáticamente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necesitas recordar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45336"/>
            <a:ext cx="502920" cy="50292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45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🏷️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389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la clase como inyectable por Angular.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298448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545336"/>
            <a:ext cx="502920" cy="502920"/>
          </a:xfrm>
          <a:prstGeom prst="ellipse">
            <a:avLst/>
          </a:prstGeom>
          <a:solidFill>
            <a:srgbClr val="FF6584">
              <a:alpha val="80000"/>
            </a:srgbClr>
          </a:solidFill>
          <a:ln w="12700">
            <a:solidFill>
              <a:srgbClr val="FF6584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45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50408" y="1389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providedIn: "root"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0408" y="17556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instancia (Singleton) para toda la app.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715768"/>
            <a:ext cx="502920" cy="50292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15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Inyección constructor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29260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entrega el servicio al componente automáticamente.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468880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715768"/>
            <a:ext cx="502920" cy="502920"/>
          </a:xfrm>
          <a:prstGeom prst="ellipse">
            <a:avLst/>
          </a:prstGeom>
          <a:solidFill>
            <a:srgbClr val="FF6584">
              <a:alpha val="80000"/>
            </a:srgbClr>
          </a:solidFill>
          <a:ln w="12700">
            <a:solidFill>
              <a:srgbClr val="FF6584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15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50408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BehaviorSubject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0408" y="292608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reactivo que notifica a todos los suscriptores.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886200"/>
            <a:ext cx="502920" cy="50292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07008" y="3730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Compartición de datos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409651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sin relación comparten estado vía servicio.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39312"/>
            <a:ext cx="4114800" cy="1005840"/>
          </a:xfrm>
          <a:prstGeom prst="roundRect">
            <a:avLst>
              <a:gd name="adj" fmla="val 12727"/>
            </a:avLst>
          </a:prstGeom>
          <a:solidFill>
            <a:srgbClr val="1E1D2E"/>
          </a:solidFill>
          <a:ln w="12700">
            <a:solidFill>
              <a:srgbClr val="2A284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886200"/>
            <a:ext cx="502920" cy="502920"/>
          </a:xfrm>
          <a:prstGeom prst="ellipse">
            <a:avLst/>
          </a:prstGeom>
          <a:solidFill>
            <a:srgbClr val="FF6584">
              <a:alpha val="80000"/>
            </a:srgbClr>
          </a:solidFill>
          <a:ln w="12700">
            <a:solidFill>
              <a:srgbClr val="FF6584">
                <a:alpha val="8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♻️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50408" y="3730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Reutilización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0408" y="409651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servicio, muchos componentes. No repitas lógica.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6584">
              <a:alpha val="15000"/>
            </a:srgbClr>
          </a:solidFill>
          <a:ln w="12700">
            <a:solidFill>
              <a:srgbClr val="FF6584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· @Injectable · providedIn · constructor · BehaviorSubject · Compartición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" y="329184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061972" y="329184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1972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providedIn:'root'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781044" y="329184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81044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constructor(srv)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500116" y="329184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0116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BehaviorSubject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219188" y="3291840"/>
            <a:ext cx="1627632" cy="329184"/>
          </a:xfrm>
          <a:prstGeom prst="roundRect">
            <a:avLst>
              <a:gd name="adj" fmla="val 50000"/>
            </a:avLst>
          </a:prstGeom>
          <a:solidFill>
            <a:srgbClr val="2A2840"/>
          </a:solidFill>
          <a:ln w="12700">
            <a:solidFill>
              <a:srgbClr val="6C63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19188" y="3291840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Servicios e Inyección de Dependencias – Angular</dc:title>
  <dc:subject>PptxGenJS Presentation</dc:subject>
  <dc:creator>PptxGenJS</dc:creator>
  <cp:lastModifiedBy>PptxGenJS</cp:lastModifiedBy>
  <cp:revision>1</cp:revision>
  <dcterms:created xsi:type="dcterms:W3CDTF">2026-06-30T00:23:06Z</dcterms:created>
  <dcterms:modified xsi:type="dcterms:W3CDTF">2026-06-30T00:23:06Z</dcterms:modified>
</cp:coreProperties>
</file>